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2" d="100"/>
          <a:sy n="72" d="100"/>
        </p:scale>
        <p:origin x="82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8660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MasterFlow is a working, dependency-free prototype for Problem #4 — replacing an expensive ServiceNow catalog with one simple, AI-assisted request front door while preserving existing queues, SLAs, and approvals.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problem is usability and cost, not routing. Employees know what they need but must find the right catalog item and fill a different form each time. MasterFlow keeps the trusted routing and replaces the friction.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Classification, extraction, and the diagnostic question flow are transparent and local — no black box. Low-confidence requests route to Triage instead of guessing. A Node regression harness asserts the classification of every home-page example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connected surfaces cover every Problem #4 requirement: create/track/close tickets with standard fields, configurable queues and routing, SLAs, two-way communication and simulated email intake, knowledge base, incident/service/change with approvals, reporting, roles and access, ServiceNow migration, AI assistance, lower cost, and no-code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Impact: a credible path off a $300K/year system, with all twelve requirements demonstrated and no runtime dependencies. Next steps move from prototype to production: SSO, live migration, measured savings reconciliation, CI-enforced classification tests, and real email/notifications.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446A12-B574-0B15-1DC4-82E63BBDCCD6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581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FF">
                    <a:alpha val="50000"/>
                  </a:srgbClr>
                </a:solidFill>
                <a:latin typeface="Aptos" panose="020B0004020202020204" pitchFamily="34" charset="0"/>
              </a:rPr>
              <a:t>INTERNAL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554480"/>
            <a:ext cx="5120640" cy="5120640"/>
          </a:xfrm>
          <a:prstGeom prst="ellipse">
            <a:avLst/>
          </a:prstGeom>
          <a:solidFill>
            <a:srgbClr val="2331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424160" y="3291840"/>
            <a:ext cx="4023360" cy="4023360"/>
          </a:xfrm>
          <a:prstGeom prst="ellipse">
            <a:avLst/>
          </a:prstGeom>
          <a:solidFill>
            <a:srgbClr val="2F6FB0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ELECTRONICS   ·   OVERDRIVE HACKATHON   ·   PROBLEM #4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051560"/>
            <a:ext cx="8778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MasterFlow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566928" y="233172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AI-assisted front door that replaces a $300K/year ServiceNow catalog — without giving up the queues, SLAs, and approvals the business already trusts.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66928" y="3977640"/>
            <a:ext cx="2893162" cy="457200"/>
          </a:xfrm>
          <a:prstGeom prst="roundRect">
            <a:avLst>
              <a:gd name="adj" fmla="val 50000"/>
            </a:avLst>
          </a:prstGeom>
          <a:solidFill>
            <a:srgbClr val="233163"/>
          </a:solidFill>
          <a:ln w="12700">
            <a:solidFill>
              <a:srgbClr val="2F6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66928" y="3977640"/>
            <a:ext cx="289316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Ticketing System Replacement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61258" y="3977640"/>
            <a:ext cx="1907438" cy="457200"/>
          </a:xfrm>
          <a:prstGeom prst="roundRect">
            <a:avLst>
              <a:gd name="adj" fmla="val 50000"/>
            </a:avLst>
          </a:prstGeom>
          <a:solidFill>
            <a:srgbClr val="233163"/>
          </a:solidFill>
          <a:ln w="12700">
            <a:solidFill>
              <a:srgbClr val="2F6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61258" y="3977640"/>
            <a:ext cx="19074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prototype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769864" y="3977640"/>
            <a:ext cx="1728216" cy="457200"/>
          </a:xfrm>
          <a:prstGeom prst="roundRect">
            <a:avLst>
              <a:gd name="adj" fmla="val 50000"/>
            </a:avLst>
          </a:prstGeom>
          <a:solidFill>
            <a:srgbClr val="233163"/>
          </a:solidFill>
          <a:ln w="12700">
            <a:solidFill>
              <a:srgbClr val="2F6F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769864" y="397764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new licenses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5029200"/>
            <a:ext cx="722376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/>
          <a:effectLst>
            <a:outerShdw blurRad="127000" dist="38100" dir="5400000" algn="bl" rotWithShape="0">
              <a:srgbClr val="8A94A6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1248" y="502920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what you need…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099048" y="5230368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0E8C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099048" y="5230368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 ↑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6928" y="6263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0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Runs locally:  python serve.py  →  http://127.0.0.1:8000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66928" y="1298448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Electronics already routes correctly. The usability — and the cost — do not hold up.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" y="2057400"/>
            <a:ext cx="3441192" cy="2880360"/>
          </a:xfrm>
          <a:prstGeom prst="roundRect">
            <a:avLst>
              <a:gd name="adj" fmla="val 3175"/>
            </a:avLst>
          </a:prstGeom>
          <a:solidFill>
            <a:srgbClr val="F5F7FC"/>
          </a:solidFill>
          <a:ln w="12700">
            <a:solidFill>
              <a:srgbClr val="E2E7F1"/>
            </a:solidFill>
            <a:prstDash val="solid"/>
          </a:ln>
          <a:effectLst>
            <a:outerShdw blurRad="127000" dist="38100" dir="5400000" algn="bl" rotWithShape="0">
              <a:srgbClr val="8A94A6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77824" y="2377440"/>
            <a:ext cx="310896" cy="310896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77824" y="2788920"/>
            <a:ext cx="2819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$300K+/yr</a:t>
            </a:r>
            <a:endParaRPr lang="en-US" sz="3300" dirty="0"/>
          </a:p>
        </p:txBody>
      </p:sp>
      <p:sp>
        <p:nvSpPr>
          <p:cNvPr id="7" name="Text 5"/>
          <p:cNvSpPr/>
          <p:nvPr/>
        </p:nvSpPr>
        <p:spPr>
          <a:xfrm>
            <a:off x="877824" y="3977640"/>
            <a:ext cx="2819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on a ServiceNow implementation used primarily for ticket intake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73880" y="2057400"/>
            <a:ext cx="3441192" cy="2880360"/>
          </a:xfrm>
          <a:prstGeom prst="roundRect">
            <a:avLst>
              <a:gd name="adj" fmla="val 3175"/>
            </a:avLst>
          </a:prstGeom>
          <a:solidFill>
            <a:srgbClr val="F5F7FC"/>
          </a:solidFill>
          <a:ln w="12700">
            <a:solidFill>
              <a:srgbClr val="E2E7F1"/>
            </a:solidFill>
            <a:prstDash val="solid"/>
          </a:ln>
          <a:effectLst>
            <a:outerShdw blurRad="127000" dist="38100" dir="5400000" algn="bl" rotWithShape="0">
              <a:srgbClr val="8A94A6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84776" y="2377440"/>
            <a:ext cx="310896" cy="310896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84776" y="2788920"/>
            <a:ext cx="2819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catalog,</a:t>
            </a:r>
            <a:endParaRPr lang="en-US" sz="33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forms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4684776" y="3977640"/>
            <a:ext cx="2819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 hunt a large catalog and complete a different form for every request type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80832" y="2057400"/>
            <a:ext cx="3441192" cy="2880360"/>
          </a:xfrm>
          <a:prstGeom prst="roundRect">
            <a:avLst>
              <a:gd name="adj" fmla="val 3175"/>
            </a:avLst>
          </a:prstGeom>
          <a:solidFill>
            <a:srgbClr val="F5F7FC"/>
          </a:solidFill>
          <a:ln w="12700">
            <a:solidFill>
              <a:srgbClr val="E2E7F1"/>
            </a:solidFill>
            <a:prstDash val="solid"/>
          </a:ln>
          <a:effectLst>
            <a:outerShdw blurRad="127000" dist="38100" dir="5400000" algn="bl" rotWithShape="0">
              <a:srgbClr val="8A94A6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91728" y="2377440"/>
            <a:ext cx="310896" cy="310896"/>
          </a:xfrm>
          <a:prstGeom prst="ellipse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91728" y="2788920"/>
            <a:ext cx="2819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33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needs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8491728" y="3977640"/>
            <a:ext cx="2819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 · queues · SLAs · comms · knowledge · workflows · approvals · reporting · roles · migration · AI · low-cost config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5257800"/>
            <a:ext cx="11055096" cy="960120"/>
          </a:xfrm>
          <a:prstGeom prst="roundRect">
            <a:avLst>
              <a:gd name="adj" fmla="val 9524"/>
            </a:avLst>
          </a:prstGeom>
          <a:solidFill>
            <a:srgbClr val="1622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2688" y="5257800"/>
            <a:ext cx="10323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routing authority already works — so we kept it. MasterFlow removes the catalog hunt and the form-per-request friction, not the queues, SLAs, ownership, or approvals.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MasterFlow works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566928" y="1554480"/>
            <a:ext cx="2530602" cy="3063240"/>
          </a:xfrm>
          <a:prstGeom prst="roundRect">
            <a:avLst>
              <a:gd name="adj" fmla="val 3613"/>
            </a:avLst>
          </a:prstGeom>
          <a:solidFill>
            <a:srgbClr val="F5F7FC"/>
          </a:solidFill>
          <a:ln w="12700">
            <a:solidFill>
              <a:srgbClr val="E2E7F1"/>
            </a:solidFill>
            <a:prstDash val="solid"/>
          </a:ln>
          <a:effectLst>
            <a:outerShdw blurRad="127000" dist="38100" dir="5400000" algn="bl" rotWithShape="0">
              <a:srgbClr val="8A94A6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59536" y="1828800"/>
            <a:ext cx="640080" cy="640080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59536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41248" y="2697480"/>
            <a:ext cx="19819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 plain language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41248" y="3474720"/>
            <a:ext cx="19819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employee types what they need. No catalog to search.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079242" y="182880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08426" y="1554480"/>
            <a:ext cx="2530602" cy="3063240"/>
          </a:xfrm>
          <a:prstGeom prst="roundRect">
            <a:avLst>
              <a:gd name="adj" fmla="val 3613"/>
            </a:avLst>
          </a:prstGeom>
          <a:solidFill>
            <a:srgbClr val="F5F7FC"/>
          </a:solidFill>
          <a:ln w="12700">
            <a:solidFill>
              <a:srgbClr val="E2E7F1"/>
            </a:solidFill>
            <a:prstDash val="solid"/>
          </a:ln>
          <a:effectLst>
            <a:outerShdw blurRad="127000" dist="38100" dir="5400000" algn="bl" rotWithShape="0">
              <a:srgbClr val="8A94A6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701034" y="1828800"/>
            <a:ext cx="640080" cy="640080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701034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3682746" y="2697480"/>
            <a:ext cx="19819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selects the request type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3682746" y="3474720"/>
            <a:ext cx="19819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local matching picks the existing template and shows its confidence.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20740" y="182880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249924" y="1554480"/>
            <a:ext cx="2530602" cy="3063240"/>
          </a:xfrm>
          <a:prstGeom prst="roundRect">
            <a:avLst>
              <a:gd name="adj" fmla="val 3613"/>
            </a:avLst>
          </a:prstGeom>
          <a:solidFill>
            <a:srgbClr val="F5F7FC"/>
          </a:solidFill>
          <a:ln w="12700">
            <a:solidFill>
              <a:srgbClr val="E2E7F1"/>
            </a:solidFill>
            <a:prstDash val="solid"/>
          </a:ln>
          <a:effectLst>
            <a:outerShdw blurRad="127000" dist="38100" dir="5400000" algn="bl" rotWithShape="0">
              <a:srgbClr val="8A94A6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542532" y="1828800"/>
            <a:ext cx="640080" cy="640080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542532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524244" y="2697480"/>
            <a:ext cx="19819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Prefill, then ask only the gaps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524244" y="3474720"/>
            <a:ext cx="19819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data is filled in; one focused question at a time until the request is work-ready.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62238" y="1828800"/>
            <a:ext cx="3108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F6F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091422" y="1554480"/>
            <a:ext cx="2530602" cy="3063240"/>
          </a:xfrm>
          <a:prstGeom prst="roundRect">
            <a:avLst>
              <a:gd name="adj" fmla="val 3613"/>
            </a:avLst>
          </a:prstGeom>
          <a:solidFill>
            <a:srgbClr val="F5F7FC"/>
          </a:solidFill>
          <a:ln w="12700">
            <a:solidFill>
              <a:srgbClr val="E2E7F1"/>
            </a:solidFill>
            <a:prstDash val="solid"/>
          </a:ln>
          <a:effectLst>
            <a:outerShdw blurRad="127000" dist="38100" dir="5400000" algn="bl" rotWithShape="0">
              <a:srgbClr val="8A94A6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9384030" y="1828800"/>
            <a:ext cx="640080" cy="640080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38403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365742" y="2697480"/>
            <a:ext cx="198196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6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to the existing queue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9365742" y="3474720"/>
            <a:ext cx="198196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numbered ticket lands in the trusted team queue. Low confidence → Megan Delia – Triage.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4937760"/>
            <a:ext cx="11055096" cy="1325880"/>
          </a:xfrm>
          <a:prstGeom prst="roundRect">
            <a:avLst>
              <a:gd name="adj" fmla="val 6897"/>
            </a:avLst>
          </a:prstGeom>
          <a:solidFill>
            <a:srgbClr val="EAF3F1"/>
          </a:solidFill>
          <a:ln w="12700">
            <a:solidFill>
              <a:srgbClr val="0E8C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86968" y="5230368"/>
            <a:ext cx="384048" cy="384048"/>
          </a:xfrm>
          <a:prstGeom prst="ellipse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86968" y="52303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81328" y="5029200"/>
            <a:ext cx="9774936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5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is deterministic, local, and inspectable.</a:t>
            </a:r>
            <a:r>
              <a:rPr lang="en-US" sz="1500" dirty="0">
                <a:solidFill>
                  <a:srgbClr val="375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No external model or API; no data leaves the perimeter. Every suggestion is visible and editable — and a regression harness pins the classification of every demo phrase.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built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66928" y="1298448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twelve Problem #4 requirements are demonstrable end-to-end.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928" y="1874520"/>
            <a:ext cx="3441192" cy="1737360"/>
          </a:xfrm>
          <a:prstGeom prst="roundRect">
            <a:avLst>
              <a:gd name="adj" fmla="val 4737"/>
            </a:avLst>
          </a:prstGeom>
          <a:solidFill>
            <a:srgbClr val="F5F7FC"/>
          </a:solidFill>
          <a:ln w="12700">
            <a:solidFill>
              <a:srgbClr val="E2E7F1"/>
            </a:solidFill>
            <a:prstDash val="solid"/>
          </a:ln>
          <a:effectLst>
            <a:outerShdw blurRad="127000" dist="38100" dir="5400000" algn="bl" rotWithShape="0">
              <a:srgbClr val="8A94A6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41248" y="2130552"/>
            <a:ext cx="256032" cy="256032"/>
          </a:xfrm>
          <a:prstGeom prst="ellipse">
            <a:avLst/>
          </a:prstGeom>
          <a:solidFill>
            <a:srgbClr val="2F6F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225296" y="2057400"/>
            <a:ext cx="252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Request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532888"/>
            <a:ext cx="2892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intake → dynamic form → numbered ticket in My Requests and the team queue.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73880" y="1874520"/>
            <a:ext cx="3441192" cy="1737360"/>
          </a:xfrm>
          <a:prstGeom prst="roundRect">
            <a:avLst>
              <a:gd name="adj" fmla="val 4737"/>
            </a:avLst>
          </a:prstGeom>
          <a:solidFill>
            <a:srgbClr val="F5F7FC"/>
          </a:solidFill>
          <a:ln w="12700">
            <a:solidFill>
              <a:srgbClr val="E2E7F1"/>
            </a:solidFill>
            <a:prstDash val="solid"/>
          </a:ln>
          <a:effectLst>
            <a:outerShdw blurRad="127000" dist="38100" dir="5400000" algn="bl" rotWithShape="0">
              <a:srgbClr val="8A94A6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48200" y="2130552"/>
            <a:ext cx="256032" cy="256032"/>
          </a:xfrm>
          <a:prstGeom prst="ellipse">
            <a:avLst/>
          </a:prstGeom>
          <a:solidFill>
            <a:srgbClr val="B4433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32248" y="2057400"/>
            <a:ext cx="252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is stopped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48200" y="2532888"/>
            <a:ext cx="2892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P1 fast lane that bypasses AI entirely and pages Warehouse Systems / On-call.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80832" y="1874520"/>
            <a:ext cx="3441192" cy="1737360"/>
          </a:xfrm>
          <a:prstGeom prst="roundRect">
            <a:avLst>
              <a:gd name="adj" fmla="val 4737"/>
            </a:avLst>
          </a:prstGeom>
          <a:solidFill>
            <a:srgbClr val="F5F7FC"/>
          </a:solidFill>
          <a:ln w="12700">
            <a:solidFill>
              <a:srgbClr val="E2E7F1"/>
            </a:solidFill>
            <a:prstDash val="solid"/>
          </a:ln>
          <a:effectLst>
            <a:outerShdw blurRad="127000" dist="38100" dir="5400000" algn="bl" rotWithShape="0">
              <a:srgbClr val="8A94A6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55152" y="2130552"/>
            <a:ext cx="256032" cy="256032"/>
          </a:xfrm>
          <a:prstGeom prst="ellipse">
            <a:avLst/>
          </a:prstGeom>
          <a:solidFill>
            <a:srgbClr val="0E8C7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839200" y="2057400"/>
            <a:ext cx="252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Center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455152" y="2532888"/>
            <a:ext cx="2892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Team inbox, cost capture at resolution, and cost-threshold approval routing.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3886200"/>
            <a:ext cx="3441192" cy="1737360"/>
          </a:xfrm>
          <a:prstGeom prst="roundRect">
            <a:avLst>
              <a:gd name="adj" fmla="val 4737"/>
            </a:avLst>
          </a:prstGeom>
          <a:solidFill>
            <a:srgbClr val="F5F7FC"/>
          </a:solidFill>
          <a:ln w="12700">
            <a:solidFill>
              <a:srgbClr val="E2E7F1"/>
            </a:solidFill>
            <a:prstDash val="solid"/>
          </a:ln>
          <a:effectLst>
            <a:outerShdw blurRad="127000" dist="38100" dir="5400000" algn="bl" rotWithShape="0">
              <a:srgbClr val="8A94A6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1248" y="4142232"/>
            <a:ext cx="256032" cy="256032"/>
          </a:xfrm>
          <a:prstGeom prst="ellipse">
            <a:avLst/>
          </a:prstGeom>
          <a:solidFill>
            <a:srgbClr val="6B57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25296" y="4069080"/>
            <a:ext cx="252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Manager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" y="4544568"/>
            <a:ext cx="2892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No-code request-flow config, automatic-assignment rules, and reporting.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373880" y="3886200"/>
            <a:ext cx="3441192" cy="1737360"/>
          </a:xfrm>
          <a:prstGeom prst="roundRect">
            <a:avLst>
              <a:gd name="adj" fmla="val 4737"/>
            </a:avLst>
          </a:prstGeom>
          <a:solidFill>
            <a:srgbClr val="F5F7FC"/>
          </a:solidFill>
          <a:ln w="12700">
            <a:solidFill>
              <a:srgbClr val="E2E7F1"/>
            </a:solidFill>
            <a:prstDash val="solid"/>
          </a:ln>
          <a:effectLst>
            <a:outerShdw blurRad="127000" dist="38100" dir="5400000" algn="bl" rotWithShape="0">
              <a:srgbClr val="8A94A6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648200" y="4142232"/>
            <a:ext cx="256032" cy="256032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032248" y="4069080"/>
            <a:ext cx="252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&amp; Triage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48200" y="4544568"/>
            <a:ext cx="2892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Thresholds, roles &amp; access, audit, and low-confidence review — enforced, not just shown.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8180832" y="3903156"/>
            <a:ext cx="3441192" cy="1737360"/>
          </a:xfrm>
          <a:prstGeom prst="roundRect">
            <a:avLst>
              <a:gd name="adj" fmla="val 4737"/>
            </a:avLst>
          </a:prstGeom>
          <a:solidFill>
            <a:srgbClr val="F5F7FC"/>
          </a:solidFill>
          <a:ln w="12700">
            <a:solidFill>
              <a:srgbClr val="E2E7F1"/>
            </a:solidFill>
            <a:prstDash val="solid"/>
          </a:ln>
          <a:effectLst>
            <a:outerShdw blurRad="127000" dist="38100" dir="5400000" algn="bl" rotWithShape="0">
              <a:srgbClr val="8A94A6">
                <a:alpha val="35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8455152" y="4142232"/>
            <a:ext cx="256032" cy="256032"/>
          </a:xfrm>
          <a:prstGeom prst="ellipse">
            <a:avLst/>
          </a:prstGeom>
          <a:solidFill>
            <a:srgbClr val="2C7BB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8839200" y="4069080"/>
            <a:ext cx="2526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/>
              <a:t>Freight Optimization ticketing system</a:t>
            </a:r>
          </a:p>
        </p:txBody>
      </p:sp>
      <p:sp>
        <p:nvSpPr>
          <p:cNvPr id="27" name="Text 25"/>
          <p:cNvSpPr/>
          <p:nvPr/>
        </p:nvSpPr>
        <p:spPr>
          <a:xfrm>
            <a:off x="8473440" y="4680396"/>
            <a:ext cx="2892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4000"/>
              </a:lnSpc>
              <a:buNone/>
            </a:pP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66928" y="61722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Dependency-free: </a:t>
            </a: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HTML/CSS/JS, shared localStorage state. No license, backend server, database, or package manager — just a small local static-file server to run it.</a:t>
            </a:r>
            <a:endParaRPr lang="en-US" sz="1300" dirty="0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093D0421-6EB1-0EC6-99D9-DB74552CAC4E}"/>
              </a:ext>
            </a:extLst>
          </p:cNvPr>
          <p:cNvSpPr/>
          <p:nvPr/>
        </p:nvSpPr>
        <p:spPr>
          <a:xfrm>
            <a:off x="8583168" y="4621626"/>
            <a:ext cx="28925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4000"/>
              </a:lnSpc>
            </a:pPr>
            <a:r>
              <a:rPr lang="en-US" sz="1250" dirty="0">
                <a:solidFill>
                  <a:schemeClr val="bg1">
                    <a:lumMod val="50000"/>
                  </a:schemeClr>
                </a:solidFill>
              </a:rPr>
              <a:t>Analyzes outbound shipments to identify consolidation opportunities, reduce freight costs, and support consistent, policy-driven transportation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737360" y="4023360"/>
            <a:ext cx="4754880" cy="4754880"/>
          </a:xfrm>
          <a:prstGeom prst="ellipse">
            <a:avLst/>
          </a:prstGeom>
          <a:solidFill>
            <a:srgbClr val="2331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50292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impact &amp; what's next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66928" y="178308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$300K/yr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66928" y="26974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ServiceNow spend targeted for replacement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3246120"/>
            <a:ext cx="53035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request intake improves ticket quality before work begins </a:t>
            </a:r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Intelligent routing reduces manual triage and rework Demonstrates all Problem #4 Ticketing System Replacement requirements </a:t>
            </a:r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Includes a second enterprise solution: Freight Optimization for shipment consolidation and transportation savings </a:t>
            </a:r>
          </a:p>
          <a:p>
            <a:pPr marL="203200" indent="-2032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Built as a scalable platform for future business workflows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58368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810512"/>
            <a:ext cx="50292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SSO-based roles replace the demo role selector </a:t>
            </a:r>
          </a:p>
          <a:p>
            <a:pPr marL="203200" indent="-2032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Live ServiceNow migration with validation reporting </a:t>
            </a:r>
          </a:p>
          <a:p>
            <a:pPr marL="203200" indent="-2032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Category Owner workflow for governed template and request-category publishing </a:t>
            </a:r>
          </a:p>
          <a:p>
            <a:pPr marL="203200" indent="-2032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Expand Freight Optimization with live shipment and carrier integrations </a:t>
            </a:r>
          </a:p>
          <a:p>
            <a:pPr marL="203200" indent="-203200">
              <a:lnSpc>
                <a:spcPct val="103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Real email intake with two-way requester notifications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566928" y="5806440"/>
            <a:ext cx="11055096" cy="640080"/>
          </a:xfrm>
          <a:prstGeom prst="roundRect">
            <a:avLst>
              <a:gd name="adj" fmla="val 14286"/>
            </a:avLst>
          </a:prstGeom>
          <a:solidFill>
            <a:srgbClr val="2331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86968" y="5806440"/>
            <a:ext cx="104150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boundary — all users, tickets, costs, and transition status are fictional or modeled; no live ServiceNow, ERP, Outlook, or SSO. No secrets or credentials.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840</Words>
  <Application>Microsoft Office PowerPoint</Application>
  <PresentationFormat>Widescreen</PresentationFormat>
  <Paragraphs>77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Master 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MasterFlow — Problem #4</dc:title>
  <dc:subject>PptxGenJS Presentation</dc:subject>
  <dc:creator>MasterFlow</dc:creator>
  <cp:lastModifiedBy>Alexandra Tafoya</cp:lastModifiedBy>
  <cp:revision>2</cp:revision>
  <dcterms:created xsi:type="dcterms:W3CDTF">2026-07-17T08:40:26Z</dcterms:created>
  <dcterms:modified xsi:type="dcterms:W3CDTF">2026-07-17T16:27:40Z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bf03475-3b06-406e-a2a9-988bf08f8d11_Enabled">
    <vt:lpwstr>true</vt:lpwstr>
  </property>
  <property fmtid="{D5CDD505-2E9C-101B-9397-08002B2CF9AE}" pid="3" name="MSIP_Label_1bf03475-3b06-406e-a2a9-988bf08f8d11_SetDate">
    <vt:lpwstr>2026-07-17T16:27:40Z</vt:lpwstr>
  </property>
  <property fmtid="{D5CDD505-2E9C-101B-9397-08002B2CF9AE}" pid="4" name="MSIP_Label_1bf03475-3b06-406e-a2a9-988bf08f8d11_Method">
    <vt:lpwstr>Standard</vt:lpwstr>
  </property>
  <property fmtid="{D5CDD505-2E9C-101B-9397-08002B2CF9AE}" pid="5" name="MSIP_Label_1bf03475-3b06-406e-a2a9-988bf08f8d11_Name">
    <vt:lpwstr>Internal</vt:lpwstr>
  </property>
  <property fmtid="{D5CDD505-2E9C-101B-9397-08002B2CF9AE}" pid="6" name="MSIP_Label_1bf03475-3b06-406e-a2a9-988bf08f8d11_SiteId">
    <vt:lpwstr>56f019d2-c7ea-4950-b0b2-f9cb651614bc</vt:lpwstr>
  </property>
  <property fmtid="{D5CDD505-2E9C-101B-9397-08002B2CF9AE}" pid="7" name="MSIP_Label_1bf03475-3b06-406e-a2a9-988bf08f8d11_ActionId">
    <vt:lpwstr>fce9d12a-49ac-4483-9e60-874291f14b92</vt:lpwstr>
  </property>
  <property fmtid="{D5CDD505-2E9C-101B-9397-08002B2CF9AE}" pid="8" name="MSIP_Label_1bf03475-3b06-406e-a2a9-988bf08f8d11_ContentBits">
    <vt:lpwstr>1</vt:lpwstr>
  </property>
  <property fmtid="{D5CDD505-2E9C-101B-9397-08002B2CF9AE}" pid="9" name="MSIP_Label_1bf03475-3b06-406e-a2a9-988bf08f8d11_Tag">
    <vt:lpwstr>10, 3, 0, 1</vt:lpwstr>
  </property>
  <property fmtid="{D5CDD505-2E9C-101B-9397-08002B2CF9AE}" pid="10" name="ClassificationContentMarkingHeaderLocations">
    <vt:lpwstr>Office Theme:3</vt:lpwstr>
  </property>
  <property fmtid="{D5CDD505-2E9C-101B-9397-08002B2CF9AE}" pid="11" name="ClassificationContentMarkingHeaderText">
    <vt:lpwstr>INTERNAL</vt:lpwstr>
  </property>
</Properties>
</file>