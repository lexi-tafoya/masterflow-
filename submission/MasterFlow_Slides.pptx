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MasterFlow is a working, dependency-free prototype for Problem #4 — replacing an expensive ServiceNow catalog with one simple, AI-assisted request front door while preserving existing queues, SLAs, and approvals.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problem is usability and cost, not routing. Employees know what they need but must find the right catalog item and fill a different form each time. MasterFlow keeps the trusted routing and replaces the friction.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Classification, extraction, and the diagnostic question flow are transparent and local — no black box. Low-confidence requests route to Triage instead of guessing. A Node regression harness asserts the classification of every home-page example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connected surfaces cover every Problem #4 requirement: create/track/close tickets with standard fields, configurable queues and routing, SLAs, two-way communication and simulated email intake, knowledge base, incident/service/change with approvals, reporting, roles and access, ServiceNow migration, AI assistance, lower cost, and no-code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Impact: a credible path off a $300K/year system, with all twelve requirements demonstrated and no runtime dependencies. Next steps move from prototype to production: SSO, live migration, measured savings reconciliation, CI-enforced classification tests, and real email/notifications.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554480"/>
            <a:ext cx="5120640" cy="5120640"/>
          </a:xfrm>
          <a:prstGeom prst="ellipse">
            <a:avLst/>
          </a:prstGeom>
          <a:solidFill>
            <a:srgbClr val="233163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3291840"/>
            <a:ext cx="4023360" cy="4023360"/>
          </a:xfrm>
          <a:prstGeom prst="ellipse">
            <a:avLst/>
          </a:prstGeom>
          <a:solidFill>
            <a:srgbClr val="2F6FB0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00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ELECTRONICS   ·   OVERDRIVE HACKATHON   ·   PROBLEM #4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1051560"/>
            <a:ext cx="8778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MasterFlow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AI-assisted front door that replaces a $300K/year ServiceNow catalog — without giving up the queues, SLAs, and approvals the business already trusts.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3977640"/>
            <a:ext cx="2893162" cy="457200"/>
          </a:xfrm>
          <a:prstGeom prst="roundRect">
            <a:avLst>
              <a:gd name="adj" fmla="val 50000"/>
            </a:avLst>
          </a:prstGeom>
          <a:solidFill>
            <a:srgbClr val="233163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977640"/>
            <a:ext cx="2893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Ticketing System Replacement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61258" y="3977640"/>
            <a:ext cx="1907438" cy="457200"/>
          </a:xfrm>
          <a:prstGeom prst="roundRect">
            <a:avLst>
              <a:gd name="adj" fmla="val 50000"/>
            </a:avLst>
          </a:prstGeom>
          <a:solidFill>
            <a:srgbClr val="233163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61258" y="3977640"/>
            <a:ext cx="1907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9864" y="3977640"/>
            <a:ext cx="1728216" cy="457200"/>
          </a:xfrm>
          <a:prstGeom prst="roundRect">
            <a:avLst>
              <a:gd name="adj" fmla="val 50000"/>
            </a:avLst>
          </a:prstGeom>
          <a:solidFill>
            <a:srgbClr val="233163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9864" y="3977640"/>
            <a:ext cx="172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licenses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0292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502920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 you need…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99048" y="5230368"/>
            <a:ext cx="1463040" cy="640080"/>
          </a:xfrm>
          <a:prstGeom prst="roundRect">
            <a:avLst>
              <a:gd name="adj" fmla="val 14286"/>
            </a:avLst>
          </a:prstGeom>
          <a:solidFill>
            <a:srgbClr val="0E8C7F"/>
          </a:solidFill>
          <a:ln/>
        </p:spPr>
      </p:sp>
      <p:sp>
        <p:nvSpPr>
          <p:cNvPr id="16" name="Text 14"/>
          <p:cNvSpPr/>
          <p:nvPr/>
        </p:nvSpPr>
        <p:spPr>
          <a:xfrm>
            <a:off x="6099048" y="523036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 ↑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 locally:  python serve.py  →  http://127.0.0.1:8000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66928" y="12984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Electronics already routes correctly. The usability — and the cost — do not hold up.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3441192" cy="2880360"/>
          </a:xfrm>
          <a:prstGeom prst="roundRect">
            <a:avLst>
              <a:gd name="adj" fmla="val 3175"/>
            </a:avLst>
          </a:prstGeom>
          <a:solidFill>
            <a:srgbClr val="F5F7FC"/>
          </a:solidFill>
          <a:ln w="12700">
            <a:solidFill>
              <a:srgbClr val="E2E7F1"/>
            </a:solidFill>
            <a:prstDash val="solid"/>
          </a:ln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377440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788920"/>
            <a:ext cx="2819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$300K+/yr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877824" y="3977640"/>
            <a:ext cx="2819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on a ServiceNow implementation used primarily for ticket intake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73880" y="2057400"/>
            <a:ext cx="3441192" cy="2880360"/>
          </a:xfrm>
          <a:prstGeom prst="roundRect">
            <a:avLst>
              <a:gd name="adj" fmla="val 3175"/>
            </a:avLst>
          </a:prstGeom>
          <a:solidFill>
            <a:srgbClr val="F5F7FC"/>
          </a:solidFill>
          <a:ln w="12700">
            <a:solidFill>
              <a:srgbClr val="E2E7F1"/>
            </a:solidFill>
            <a:prstDash val="solid"/>
          </a:ln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84776" y="2377440"/>
            <a:ext cx="310896" cy="310896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10" name="Text 8"/>
          <p:cNvSpPr/>
          <p:nvPr/>
        </p:nvSpPr>
        <p:spPr>
          <a:xfrm>
            <a:off x="4684776" y="2788920"/>
            <a:ext cx="2819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catalog,</a:t>
            </a:r>
            <a:endParaRPr lang="en-US" sz="33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 forms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4684776" y="3977640"/>
            <a:ext cx="2819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hunt a large catalog and complete a different form for every request type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0832" y="2057400"/>
            <a:ext cx="3441192" cy="2880360"/>
          </a:xfrm>
          <a:prstGeom prst="roundRect">
            <a:avLst>
              <a:gd name="adj" fmla="val 3175"/>
            </a:avLst>
          </a:prstGeom>
          <a:solidFill>
            <a:srgbClr val="F5F7FC"/>
          </a:solidFill>
          <a:ln w="12700">
            <a:solidFill>
              <a:srgbClr val="E2E7F1"/>
            </a:solidFill>
            <a:prstDash val="solid"/>
          </a:ln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91728" y="2377440"/>
            <a:ext cx="310896" cy="310896"/>
          </a:xfrm>
          <a:prstGeom prst="ellipse">
            <a:avLst/>
          </a:prstGeom>
          <a:solidFill>
            <a:srgbClr val="0E8C7F"/>
          </a:solidFill>
          <a:ln/>
        </p:spPr>
      </p:sp>
      <p:sp>
        <p:nvSpPr>
          <p:cNvPr id="14" name="Text 12"/>
          <p:cNvSpPr/>
          <p:nvPr/>
        </p:nvSpPr>
        <p:spPr>
          <a:xfrm>
            <a:off x="8491728" y="2788920"/>
            <a:ext cx="2819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needs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8491728" y="3977640"/>
            <a:ext cx="2819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· queues · SLAs · comms · knowledge · workflows · approvals · reporting · roles · migration · AI · low-cost config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257800"/>
            <a:ext cx="11055096" cy="960120"/>
          </a:xfrm>
          <a:prstGeom prst="roundRect">
            <a:avLst>
              <a:gd name="adj" fmla="val 9524"/>
            </a:avLst>
          </a:prstGeom>
          <a:solidFill>
            <a:srgbClr val="16224A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5257800"/>
            <a:ext cx="10323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routing authority already works — so we kept it. MasterFlow removes the catalog hunt and the form-per-request friction, not the queues, SLAs, ownership, or approvals.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MasterFlow works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66928" y="1554480"/>
            <a:ext cx="2530602" cy="3063240"/>
          </a:xfrm>
          <a:prstGeom prst="roundRect">
            <a:avLst>
              <a:gd name="adj" fmla="val 3613"/>
            </a:avLst>
          </a:prstGeom>
          <a:solidFill>
            <a:srgbClr val="F5F7FC"/>
          </a:solidFill>
          <a:ln w="12700">
            <a:solidFill>
              <a:srgbClr val="E2E7F1"/>
            </a:solidFill>
            <a:prstDash val="solid"/>
          </a:ln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59536" y="1828800"/>
            <a:ext cx="640080" cy="640080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5" name="Text 3"/>
          <p:cNvSpPr/>
          <p:nvPr/>
        </p:nvSpPr>
        <p:spPr>
          <a:xfrm>
            <a:off x="859536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" y="2697480"/>
            <a:ext cx="198196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language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41248" y="3474720"/>
            <a:ext cx="19819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types what they need. No catalog to search.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79242" y="182880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08426" y="1554480"/>
            <a:ext cx="2530602" cy="3063240"/>
          </a:xfrm>
          <a:prstGeom prst="roundRect">
            <a:avLst>
              <a:gd name="adj" fmla="val 3613"/>
            </a:avLst>
          </a:prstGeom>
          <a:solidFill>
            <a:srgbClr val="F5F7FC"/>
          </a:solidFill>
          <a:ln w="12700">
            <a:solidFill>
              <a:srgbClr val="E2E7F1"/>
            </a:solidFill>
            <a:prstDash val="solid"/>
          </a:ln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01034" y="1828800"/>
            <a:ext cx="640080" cy="640080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11" name="Text 9"/>
          <p:cNvSpPr/>
          <p:nvPr/>
        </p:nvSpPr>
        <p:spPr>
          <a:xfrm>
            <a:off x="3701034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82746" y="2697480"/>
            <a:ext cx="198196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selects the request type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3682746" y="3474720"/>
            <a:ext cx="19819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local matching picks the existing template and shows its confidence.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20740" y="182880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49924" y="1554480"/>
            <a:ext cx="2530602" cy="3063240"/>
          </a:xfrm>
          <a:prstGeom prst="roundRect">
            <a:avLst>
              <a:gd name="adj" fmla="val 3613"/>
            </a:avLst>
          </a:prstGeom>
          <a:solidFill>
            <a:srgbClr val="F5F7FC"/>
          </a:solidFill>
          <a:ln w="12700">
            <a:solidFill>
              <a:srgbClr val="E2E7F1"/>
            </a:solidFill>
            <a:prstDash val="solid"/>
          </a:ln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42532" y="1828800"/>
            <a:ext cx="640080" cy="640080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17" name="Text 15"/>
          <p:cNvSpPr/>
          <p:nvPr/>
        </p:nvSpPr>
        <p:spPr>
          <a:xfrm>
            <a:off x="6542532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524244" y="2697480"/>
            <a:ext cx="198196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Prefill, then ask only the gaps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524244" y="3474720"/>
            <a:ext cx="19819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data is filled in; one focused question at a time until the request is work-ready.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62238" y="182880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9091422" y="1554480"/>
            <a:ext cx="2530602" cy="3063240"/>
          </a:xfrm>
          <a:prstGeom prst="roundRect">
            <a:avLst>
              <a:gd name="adj" fmla="val 3613"/>
            </a:avLst>
          </a:prstGeom>
          <a:solidFill>
            <a:srgbClr val="F5F7FC"/>
          </a:solidFill>
          <a:ln w="12700">
            <a:solidFill>
              <a:srgbClr val="E2E7F1"/>
            </a:solidFill>
            <a:prstDash val="solid"/>
          </a:ln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84030" y="1828800"/>
            <a:ext cx="640080" cy="640080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23" name="Text 21"/>
          <p:cNvSpPr/>
          <p:nvPr/>
        </p:nvSpPr>
        <p:spPr>
          <a:xfrm>
            <a:off x="938403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365742" y="2697480"/>
            <a:ext cx="198196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the existing queue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9365742" y="3474720"/>
            <a:ext cx="19819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numbered ticket lands in the trusted team queue. Low confidence → Megan Delia – Triage.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" y="4937760"/>
            <a:ext cx="11055096" cy="1325880"/>
          </a:xfrm>
          <a:prstGeom prst="roundRect">
            <a:avLst>
              <a:gd name="adj" fmla="val 6897"/>
            </a:avLst>
          </a:prstGeom>
          <a:solidFill>
            <a:srgbClr val="EAF3F1"/>
          </a:solidFill>
          <a:ln w="12700">
            <a:solidFill>
              <a:srgbClr val="0E8C7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6968" y="5230368"/>
            <a:ext cx="384048" cy="384048"/>
          </a:xfrm>
          <a:prstGeom prst="ellipse">
            <a:avLst/>
          </a:prstGeom>
          <a:solidFill>
            <a:srgbClr val="0E8C7F"/>
          </a:solidFill>
          <a:ln/>
        </p:spPr>
      </p:sp>
      <p:sp>
        <p:nvSpPr>
          <p:cNvPr id="28" name="Text 26"/>
          <p:cNvSpPr/>
          <p:nvPr/>
        </p:nvSpPr>
        <p:spPr>
          <a:xfrm>
            <a:off x="886968" y="5230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481328" y="5029200"/>
            <a:ext cx="9774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is deterministic, local, and inspectable.</a:t>
            </a:r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7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 external model or API; no data leaves the perimeter. Every suggestion is visible and editable — and a regression harness pins the classification of every demo phrase.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66928" y="1298448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twelve Problem #4 requirements are demonstrable end-to-end.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41192" cy="1737360"/>
          </a:xfrm>
          <a:prstGeom prst="roundRect">
            <a:avLst>
              <a:gd name="adj" fmla="val 4737"/>
            </a:avLst>
          </a:prstGeom>
          <a:solidFill>
            <a:srgbClr val="F5F7FC"/>
          </a:solidFill>
          <a:ln w="12700">
            <a:solidFill>
              <a:srgbClr val="E2E7F1"/>
            </a:solidFill>
            <a:prstDash val="solid"/>
          </a:ln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30552"/>
            <a:ext cx="256032" cy="256032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6" name="Text 4"/>
          <p:cNvSpPr/>
          <p:nvPr/>
        </p:nvSpPr>
        <p:spPr>
          <a:xfrm>
            <a:off x="1225296" y="2057400"/>
            <a:ext cx="2526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Request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532888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intake → dynamic form → numbered ticket in My Requests and the team queue.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3880" y="1874520"/>
            <a:ext cx="3441192" cy="1737360"/>
          </a:xfrm>
          <a:prstGeom prst="roundRect">
            <a:avLst>
              <a:gd name="adj" fmla="val 4737"/>
            </a:avLst>
          </a:prstGeom>
          <a:solidFill>
            <a:srgbClr val="F5F7FC"/>
          </a:solidFill>
          <a:ln w="12700">
            <a:solidFill>
              <a:srgbClr val="E2E7F1"/>
            </a:solidFill>
            <a:prstDash val="solid"/>
          </a:ln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48200" y="2130552"/>
            <a:ext cx="256032" cy="256032"/>
          </a:xfrm>
          <a:prstGeom prst="ellipse">
            <a:avLst/>
          </a:prstGeom>
          <a:solidFill>
            <a:srgbClr val="B4433B"/>
          </a:solidFill>
          <a:ln/>
        </p:spPr>
      </p:sp>
      <p:sp>
        <p:nvSpPr>
          <p:cNvPr id="10" name="Text 8"/>
          <p:cNvSpPr/>
          <p:nvPr/>
        </p:nvSpPr>
        <p:spPr>
          <a:xfrm>
            <a:off x="5032248" y="2057400"/>
            <a:ext cx="2526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is stopped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48200" y="2532888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P1 fast lane that bypasses AI entirely and pages Warehouse Systems / On-call.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80832" y="1874520"/>
            <a:ext cx="3441192" cy="1737360"/>
          </a:xfrm>
          <a:prstGeom prst="roundRect">
            <a:avLst>
              <a:gd name="adj" fmla="val 4737"/>
            </a:avLst>
          </a:prstGeom>
          <a:solidFill>
            <a:srgbClr val="F5F7FC"/>
          </a:solidFill>
          <a:ln w="12700">
            <a:solidFill>
              <a:srgbClr val="E2E7F1"/>
            </a:solidFill>
            <a:prstDash val="solid"/>
          </a:ln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55152" y="2130552"/>
            <a:ext cx="256032" cy="256032"/>
          </a:xfrm>
          <a:prstGeom prst="ellipse">
            <a:avLst/>
          </a:prstGeom>
          <a:solidFill>
            <a:srgbClr val="0E8C7F"/>
          </a:solidFill>
          <a:ln/>
        </p:spPr>
      </p:sp>
      <p:sp>
        <p:nvSpPr>
          <p:cNvPr id="14" name="Text 12"/>
          <p:cNvSpPr/>
          <p:nvPr/>
        </p:nvSpPr>
        <p:spPr>
          <a:xfrm>
            <a:off x="8839200" y="2057400"/>
            <a:ext cx="2526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Center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55152" y="2532888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Team inbox, cost capture at resolution, and cost-threshold approval routing.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86200"/>
            <a:ext cx="3441192" cy="1737360"/>
          </a:xfrm>
          <a:prstGeom prst="roundRect">
            <a:avLst>
              <a:gd name="adj" fmla="val 4737"/>
            </a:avLst>
          </a:prstGeom>
          <a:solidFill>
            <a:srgbClr val="F5F7FC"/>
          </a:solidFill>
          <a:ln w="12700">
            <a:solidFill>
              <a:srgbClr val="E2E7F1"/>
            </a:solidFill>
            <a:prstDash val="solid"/>
          </a:ln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4142232"/>
            <a:ext cx="256032" cy="256032"/>
          </a:xfrm>
          <a:prstGeom prst="ellipse">
            <a:avLst/>
          </a:prstGeom>
          <a:solidFill>
            <a:srgbClr val="6B57B8"/>
          </a:solidFill>
          <a:ln/>
        </p:spPr>
      </p:sp>
      <p:sp>
        <p:nvSpPr>
          <p:cNvPr id="18" name="Text 16"/>
          <p:cNvSpPr/>
          <p:nvPr/>
        </p:nvSpPr>
        <p:spPr>
          <a:xfrm>
            <a:off x="1225296" y="4069080"/>
            <a:ext cx="2526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Manager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1248" y="4544568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request-flow config, automatic-assignment rules, and reporting.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73880" y="3886200"/>
            <a:ext cx="3441192" cy="1737360"/>
          </a:xfrm>
          <a:prstGeom prst="roundRect">
            <a:avLst>
              <a:gd name="adj" fmla="val 4737"/>
            </a:avLst>
          </a:prstGeom>
          <a:solidFill>
            <a:srgbClr val="F5F7FC"/>
          </a:solidFill>
          <a:ln w="12700">
            <a:solidFill>
              <a:srgbClr val="E2E7F1"/>
            </a:solidFill>
            <a:prstDash val="solid"/>
          </a:ln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48200" y="4142232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5032248" y="4069080"/>
            <a:ext cx="2526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Triage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648200" y="4544568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Thresholds, roles &amp; access, audit, and low-confidence review — enforced, not just shown.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80832" y="3886200"/>
            <a:ext cx="3441192" cy="1737360"/>
          </a:xfrm>
          <a:prstGeom prst="roundRect">
            <a:avLst>
              <a:gd name="adj" fmla="val 4737"/>
            </a:avLst>
          </a:prstGeom>
          <a:solidFill>
            <a:srgbClr val="F5F7FC"/>
          </a:solidFill>
          <a:ln w="12700">
            <a:solidFill>
              <a:srgbClr val="E2E7F1"/>
            </a:solidFill>
            <a:prstDash val="solid"/>
          </a:ln>
          <a:effectLst>
            <a:outerShdw sx="100000" sy="100000" kx="0" ky="0" algn="bl" rotWithShape="0" blurRad="127000" dist="38100" dir="5400000">
              <a:srgbClr val="8A94A6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455152" y="4142232"/>
            <a:ext cx="256032" cy="256032"/>
          </a:xfrm>
          <a:prstGeom prst="ellipse">
            <a:avLst/>
          </a:prstGeom>
          <a:solidFill>
            <a:srgbClr val="2C7BB0"/>
          </a:solidFill>
          <a:ln/>
        </p:spPr>
      </p:sp>
      <p:sp>
        <p:nvSpPr>
          <p:cNvPr id="26" name="Text 24"/>
          <p:cNvSpPr/>
          <p:nvPr/>
        </p:nvSpPr>
        <p:spPr>
          <a:xfrm>
            <a:off x="8839200" y="4069080"/>
            <a:ext cx="2526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Transition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455152" y="4544568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scope, field mapping, dry-run validation, and cutover / rollback.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66928" y="61722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Dependency-free: </a:t>
            </a:r>
            <a:pPr algn="l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HTML/CSS/JS, shared localStorage state. No license, backend server, database, or package manager — just a small local static-file server to run it.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4023360"/>
            <a:ext cx="4754880" cy="4754880"/>
          </a:xfrm>
          <a:prstGeom prst="ellipse">
            <a:avLst/>
          </a:prstGeom>
          <a:solidFill>
            <a:srgbClr val="23316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 &amp; what's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$300K/yr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66928" y="2697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spend targeted for replacement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3246120"/>
            <a:ext cx="5303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Problem #4 requirements demonstrable end-to-end</a:t>
            </a:r>
            <a:endParaRPr lang="en-US" sz="145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dependencies, zero new licenses to run</a:t>
            </a:r>
            <a:endParaRPr lang="en-US" sz="145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local AI — nothing leaves the perimeter</a:t>
            </a:r>
            <a:endParaRPr lang="en-US" sz="145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queues, SLAs, and approvals preserved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58368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810512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SSO-based roles replace the demo role selector</a:t>
            </a:r>
            <a:endParaRPr lang="en-US" sz="150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ServiceNow migration with validation counts</a:t>
            </a:r>
            <a:endParaRPr lang="en-US" sz="150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modeled savings vs. real ticket volume &amp; cost</a:t>
            </a:r>
            <a:endParaRPr lang="en-US" sz="150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classification regression harness into CI</a:t>
            </a:r>
            <a:endParaRPr lang="en-US" sz="1500" dirty="0"/>
          </a:p>
          <a:p>
            <a:pPr marL="203200" indent="-2032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email intake and two-way notifications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5806440"/>
            <a:ext cx="11055096" cy="640080"/>
          </a:xfrm>
          <a:prstGeom prst="roundRect">
            <a:avLst>
              <a:gd name="adj" fmla="val 14286"/>
            </a:avLst>
          </a:prstGeom>
          <a:solidFill>
            <a:srgbClr val="233163"/>
          </a:solidFill>
          <a:ln/>
        </p:spPr>
      </p:sp>
      <p:sp>
        <p:nvSpPr>
          <p:cNvPr id="11" name="Text 9"/>
          <p:cNvSpPr/>
          <p:nvPr/>
        </p:nvSpPr>
        <p:spPr>
          <a:xfrm>
            <a:off x="886968" y="5806440"/>
            <a:ext cx="10415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boundary — all users, tickets, costs, and transition status are fictional or modeled; no live ServiceNow, ERP, Outlook, or SSO. No secrets or credentials.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Master 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MasterFlow — Problem #4</dc:title>
  <dc:subject>PptxGenJS Presentation</dc:subject>
  <dc:creator>MasterFlow</dc:creator>
  <cp:lastModifiedBy>MasterFlow</cp:lastModifiedBy>
  <cp:revision>1</cp:revision>
  <dcterms:created xsi:type="dcterms:W3CDTF">2026-07-17T08:40:26Z</dcterms:created>
  <dcterms:modified xsi:type="dcterms:W3CDTF">2026-07-17T08:40:26Z</dcterms:modified>
</cp:coreProperties>
</file>